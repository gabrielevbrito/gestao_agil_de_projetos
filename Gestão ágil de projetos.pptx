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 Italics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jpe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svg" Type="http://schemas.openxmlformats.org/officeDocument/2006/relationships/image"/><Relationship Id="rId13" Target="../media/image71.png" Type="http://schemas.openxmlformats.org/officeDocument/2006/relationships/image"/><Relationship Id="rId14" Target="../media/image72.sv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4.png" Type="http://schemas.openxmlformats.org/officeDocument/2006/relationships/image"/><Relationship Id="rId14" Target="../media/image65.svg" Type="http://schemas.openxmlformats.org/officeDocument/2006/relationships/image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svg" Type="http://schemas.openxmlformats.org/officeDocument/2006/relationships/image"/><Relationship Id="rId13" Target="../media/image71.png" Type="http://schemas.openxmlformats.org/officeDocument/2006/relationships/image"/><Relationship Id="rId14" Target="../media/image72.sv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https://trello.com/b/RIIxTQ00/projeto-agil-smartpark" TargetMode="External" Type="http://schemas.openxmlformats.org/officeDocument/2006/relationships/hyperlink"/><Relationship Id="rId2" Target="../media/image73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16" Target="../media/image98.png" Type="http://schemas.openxmlformats.org/officeDocument/2006/relationships/image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86.png" Type="http://schemas.openxmlformats.org/officeDocument/2006/relationships/image"/><Relationship Id="rId5" Target="../media/image87.svg" Type="http://schemas.openxmlformats.org/officeDocument/2006/relationships/image"/><Relationship Id="rId6" Target="../media/image88.png" Type="http://schemas.openxmlformats.org/officeDocument/2006/relationships/image"/><Relationship Id="rId7" Target="../media/image89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733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700" y="7456190"/>
            <a:ext cx="140228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866272" y="9772650"/>
            <a:ext cx="6858000" cy="1028700"/>
          </a:xfrm>
          <a:custGeom>
            <a:avLst/>
            <a:gdLst/>
            <a:ahLst/>
            <a:cxnLst/>
            <a:rect r="r" b="b" t="t" l="l"/>
            <a:pathLst>
              <a:path h="1028700" w="6858000">
                <a:moveTo>
                  <a:pt x="0" y="0"/>
                </a:moveTo>
                <a:lnTo>
                  <a:pt x="6858000" y="0"/>
                </a:lnTo>
                <a:lnTo>
                  <a:pt x="68580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15211" y="9258300"/>
            <a:ext cx="6858000" cy="1028700"/>
          </a:xfrm>
          <a:custGeom>
            <a:avLst/>
            <a:gdLst/>
            <a:ahLst/>
            <a:cxnLst/>
            <a:rect r="r" b="b" t="t" l="l"/>
            <a:pathLst>
              <a:path h="1028700" w="6858000">
                <a:moveTo>
                  <a:pt x="0" y="0"/>
                </a:moveTo>
                <a:lnTo>
                  <a:pt x="6858000" y="0"/>
                </a:lnTo>
                <a:lnTo>
                  <a:pt x="68580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490103" y="-5755907"/>
            <a:ext cx="4478675" cy="10476433"/>
          </a:xfrm>
          <a:custGeom>
            <a:avLst/>
            <a:gdLst/>
            <a:ahLst/>
            <a:cxnLst/>
            <a:rect r="r" b="b" t="t" l="l"/>
            <a:pathLst>
              <a:path h="10476433" w="4478675">
                <a:moveTo>
                  <a:pt x="4478675" y="0"/>
                </a:moveTo>
                <a:lnTo>
                  <a:pt x="0" y="0"/>
                </a:lnTo>
                <a:lnTo>
                  <a:pt x="0" y="10476434"/>
                </a:lnTo>
                <a:lnTo>
                  <a:pt x="4478675" y="10476434"/>
                </a:lnTo>
                <a:lnTo>
                  <a:pt x="447867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592470" y="6731799"/>
            <a:ext cx="4470072" cy="4470072"/>
          </a:xfrm>
          <a:custGeom>
            <a:avLst/>
            <a:gdLst/>
            <a:ahLst/>
            <a:cxnLst/>
            <a:rect r="r" b="b" t="t" l="l"/>
            <a:pathLst>
              <a:path h="4470072" w="4470072">
                <a:moveTo>
                  <a:pt x="0" y="0"/>
                </a:moveTo>
                <a:lnTo>
                  <a:pt x="4470072" y="0"/>
                </a:lnTo>
                <a:lnTo>
                  <a:pt x="4470072" y="4470072"/>
                </a:lnTo>
                <a:lnTo>
                  <a:pt x="0" y="4470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827506" y="1028700"/>
            <a:ext cx="431794" cy="1046774"/>
          </a:xfrm>
          <a:custGeom>
            <a:avLst/>
            <a:gdLst/>
            <a:ahLst/>
            <a:cxnLst/>
            <a:rect r="r" b="b" t="t" l="l"/>
            <a:pathLst>
              <a:path h="1046774" w="431794">
                <a:moveTo>
                  <a:pt x="0" y="0"/>
                </a:moveTo>
                <a:lnTo>
                  <a:pt x="431794" y="0"/>
                </a:lnTo>
                <a:lnTo>
                  <a:pt x="431794" y="1046774"/>
                </a:lnTo>
                <a:lnTo>
                  <a:pt x="0" y="1046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3220413"/>
            <a:ext cx="10531212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96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SM</a:t>
            </a:r>
            <a:r>
              <a:rPr lang="en-US" b="true" sz="96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ARTPARK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20338"/>
            <a:ext cx="698125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ESTACIONAMENTOS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925291"/>
            <a:ext cx="443139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ÁGIL DE PROJETOS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2950"/>
            <a:ext cx="50195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FATEC MAUÁ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425344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3° SEMESTRE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2622364" y="-1013548"/>
            <a:ext cx="2787429" cy="8543843"/>
          </a:xfrm>
          <a:custGeom>
            <a:avLst/>
            <a:gdLst/>
            <a:ahLst/>
            <a:cxnLst/>
            <a:rect r="r" b="b" t="t" l="l"/>
            <a:pathLst>
              <a:path h="8543843" w="2787429">
                <a:moveTo>
                  <a:pt x="0" y="0"/>
                </a:moveTo>
                <a:lnTo>
                  <a:pt x="2787429" y="0"/>
                </a:lnTo>
                <a:lnTo>
                  <a:pt x="2787429" y="8543842"/>
                </a:lnTo>
                <a:lnTo>
                  <a:pt x="0" y="8543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6960773" y="8971387"/>
            <a:ext cx="2654453" cy="2631227"/>
          </a:xfrm>
          <a:custGeom>
            <a:avLst/>
            <a:gdLst/>
            <a:ahLst/>
            <a:cxnLst/>
            <a:rect r="r" b="b" t="t" l="l"/>
            <a:pathLst>
              <a:path h="2631227" w="2654453">
                <a:moveTo>
                  <a:pt x="2654454" y="2631226"/>
                </a:moveTo>
                <a:lnTo>
                  <a:pt x="0" y="2631226"/>
                </a:lnTo>
                <a:lnTo>
                  <a:pt x="0" y="0"/>
                </a:lnTo>
                <a:lnTo>
                  <a:pt x="2654454" y="0"/>
                </a:lnTo>
                <a:lnTo>
                  <a:pt x="2654454" y="26312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439838" y="1864659"/>
            <a:ext cx="3520935" cy="5849284"/>
            <a:chOff x="0" y="0"/>
            <a:chExt cx="545485" cy="906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485" cy="906207"/>
            </a:xfrm>
            <a:custGeom>
              <a:avLst/>
              <a:gdLst/>
              <a:ahLst/>
              <a:cxnLst/>
              <a:rect r="r" b="b" t="t" l="l"/>
              <a:pathLst>
                <a:path h="906207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906207"/>
                  </a:lnTo>
                  <a:lnTo>
                    <a:pt x="0" y="906207"/>
                  </a:lnTo>
                  <a:close/>
                </a:path>
              </a:pathLst>
            </a:custGeom>
            <a:blipFill>
              <a:blip r:embed="rId6"/>
              <a:stretch>
                <a:fillRect l="-88101" t="0" r="-16256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44157" y="3409016"/>
            <a:ext cx="3520935" cy="5849284"/>
            <a:chOff x="0" y="0"/>
            <a:chExt cx="545485" cy="90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485" cy="906207"/>
            </a:xfrm>
            <a:custGeom>
              <a:avLst/>
              <a:gdLst/>
              <a:ahLst/>
              <a:cxnLst/>
              <a:rect r="r" b="b" t="t" l="l"/>
              <a:pathLst>
                <a:path h="906207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906207"/>
                  </a:lnTo>
                  <a:lnTo>
                    <a:pt x="0" y="906207"/>
                  </a:lnTo>
                  <a:close/>
                </a:path>
              </a:pathLst>
            </a:custGeom>
            <a:blipFill>
              <a:blip r:embed="rId6"/>
              <a:stretch>
                <a:fillRect l="0" t="0" r="-2506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509264" y="-3055421"/>
            <a:ext cx="5018529" cy="6110842"/>
          </a:xfrm>
          <a:custGeom>
            <a:avLst/>
            <a:gdLst/>
            <a:ahLst/>
            <a:cxnLst/>
            <a:rect r="r" b="b" t="t" l="l"/>
            <a:pathLst>
              <a:path h="6110842" w="5018529">
                <a:moveTo>
                  <a:pt x="0" y="0"/>
                </a:moveTo>
                <a:lnTo>
                  <a:pt x="5018528" y="0"/>
                </a:lnTo>
                <a:lnTo>
                  <a:pt x="5018528" y="6110842"/>
                </a:lnTo>
                <a:lnTo>
                  <a:pt x="0" y="6110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099809" y="7031289"/>
            <a:ext cx="1288697" cy="481651"/>
          </a:xfrm>
          <a:custGeom>
            <a:avLst/>
            <a:gdLst/>
            <a:ahLst/>
            <a:cxnLst/>
            <a:rect r="r" b="b" t="t" l="l"/>
            <a:pathLst>
              <a:path h="481651" w="1288697">
                <a:moveTo>
                  <a:pt x="0" y="0"/>
                </a:moveTo>
                <a:lnTo>
                  <a:pt x="1288697" y="0"/>
                </a:lnTo>
                <a:lnTo>
                  <a:pt x="1288697" y="481651"/>
                </a:lnTo>
                <a:lnTo>
                  <a:pt x="0" y="4816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87207"/>
            <a:ext cx="8372813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OBJETIVO DA APRESENTAÇÃO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799935"/>
            <a:ext cx="7379177" cy="347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Aplicar na prática os conceitos de Kanban e XP para gerenciar o fluxo de trabalho e a adaptação a mudanças em um sistema de Gestão de Estacionamento, utilizando o Trello como ferramenta visual.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2950"/>
            <a:ext cx="50195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GABRIELE BRITO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12082014" y="4838490"/>
            <a:ext cx="2946540" cy="11786161"/>
          </a:xfrm>
          <a:custGeom>
            <a:avLst/>
            <a:gdLst/>
            <a:ahLst/>
            <a:cxnLst/>
            <a:rect r="r" b="b" t="t" l="l"/>
            <a:pathLst>
              <a:path h="11786161" w="2946540">
                <a:moveTo>
                  <a:pt x="2946541" y="11786160"/>
                </a:moveTo>
                <a:lnTo>
                  <a:pt x="0" y="11786160"/>
                </a:lnTo>
                <a:lnTo>
                  <a:pt x="0" y="0"/>
                </a:lnTo>
                <a:lnTo>
                  <a:pt x="2946541" y="0"/>
                </a:lnTo>
                <a:lnTo>
                  <a:pt x="2946541" y="117861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2362" y="0"/>
            <a:ext cx="18415888" cy="10287000"/>
          </a:xfrm>
          <a:custGeom>
            <a:avLst/>
            <a:gdLst/>
            <a:ahLst/>
            <a:cxnLst/>
            <a:rect r="r" b="b" t="t" l="l"/>
            <a:pathLst>
              <a:path h="10287000" w="18415888">
                <a:moveTo>
                  <a:pt x="0" y="0"/>
                </a:moveTo>
                <a:lnTo>
                  <a:pt x="18415888" y="0"/>
                </a:lnTo>
                <a:lnTo>
                  <a:pt x="18415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00974" y="-290091"/>
            <a:ext cx="10391743" cy="10867182"/>
          </a:xfrm>
          <a:custGeom>
            <a:avLst/>
            <a:gdLst/>
            <a:ahLst/>
            <a:cxnLst/>
            <a:rect r="r" b="b" t="t" l="l"/>
            <a:pathLst>
              <a:path h="10867182" w="10391743">
                <a:moveTo>
                  <a:pt x="0" y="0"/>
                </a:moveTo>
                <a:lnTo>
                  <a:pt x="10391743" y="0"/>
                </a:lnTo>
                <a:lnTo>
                  <a:pt x="10391743" y="10867182"/>
                </a:lnTo>
                <a:lnTo>
                  <a:pt x="0" y="10867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858433" y="-3607396"/>
            <a:ext cx="4661589" cy="5746181"/>
          </a:xfrm>
          <a:custGeom>
            <a:avLst/>
            <a:gdLst/>
            <a:ahLst/>
            <a:cxnLst/>
            <a:rect r="r" b="b" t="t" l="l"/>
            <a:pathLst>
              <a:path h="5746181" w="4661589">
                <a:moveTo>
                  <a:pt x="0" y="0"/>
                </a:moveTo>
                <a:lnTo>
                  <a:pt x="4661589" y="0"/>
                </a:lnTo>
                <a:lnTo>
                  <a:pt x="4661589" y="5746181"/>
                </a:lnTo>
                <a:lnTo>
                  <a:pt x="0" y="5746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-80070" y="8893800"/>
            <a:ext cx="9150910" cy="8990769"/>
          </a:xfrm>
          <a:custGeom>
            <a:avLst/>
            <a:gdLst/>
            <a:ahLst/>
            <a:cxnLst/>
            <a:rect r="r" b="b" t="t" l="l"/>
            <a:pathLst>
              <a:path h="8990769" w="9150910">
                <a:moveTo>
                  <a:pt x="0" y="0"/>
                </a:moveTo>
                <a:lnTo>
                  <a:pt x="9150910" y="0"/>
                </a:lnTo>
                <a:lnTo>
                  <a:pt x="9150910" y="8990770"/>
                </a:lnTo>
                <a:lnTo>
                  <a:pt x="0" y="89907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559065" y="1028700"/>
            <a:ext cx="700235" cy="720036"/>
          </a:xfrm>
          <a:custGeom>
            <a:avLst/>
            <a:gdLst/>
            <a:ahLst/>
            <a:cxnLst/>
            <a:rect r="r" b="b" t="t" l="l"/>
            <a:pathLst>
              <a:path h="720036" w="700235">
                <a:moveTo>
                  <a:pt x="0" y="0"/>
                </a:moveTo>
                <a:lnTo>
                  <a:pt x="700235" y="0"/>
                </a:lnTo>
                <a:lnTo>
                  <a:pt x="700235" y="720036"/>
                </a:lnTo>
                <a:lnTo>
                  <a:pt x="0" y="7200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3141411"/>
            <a:ext cx="8162876" cy="99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7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PROBLEMÁTICA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89515"/>
            <a:ext cx="7490536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Dificuldade dos motoristas em encontrar vagas seguras, filas longas no pagamento e falta de controle automatizado de lotação e mensalistas.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2950"/>
            <a:ext cx="50195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DE NEGÓCIO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GUSTAVO PEREIRA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7620794" y="4392131"/>
            <a:ext cx="1969755" cy="7762583"/>
          </a:xfrm>
          <a:custGeom>
            <a:avLst/>
            <a:gdLst/>
            <a:ahLst/>
            <a:cxnLst/>
            <a:rect r="r" b="b" t="t" l="l"/>
            <a:pathLst>
              <a:path h="7762583" w="1969755">
                <a:moveTo>
                  <a:pt x="0" y="7762583"/>
                </a:moveTo>
                <a:lnTo>
                  <a:pt x="1969756" y="7762583"/>
                </a:lnTo>
                <a:lnTo>
                  <a:pt x="1969756" y="0"/>
                </a:lnTo>
                <a:lnTo>
                  <a:pt x="0" y="0"/>
                </a:lnTo>
                <a:lnTo>
                  <a:pt x="0" y="7762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4724381" y="3409016"/>
            <a:ext cx="3520935" cy="5849284"/>
            <a:chOff x="0" y="0"/>
            <a:chExt cx="545485" cy="9062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485" cy="906207"/>
            </a:xfrm>
            <a:custGeom>
              <a:avLst/>
              <a:gdLst/>
              <a:ahLst/>
              <a:cxnLst/>
              <a:rect r="r" b="b" t="t" l="l"/>
              <a:pathLst>
                <a:path h="906207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906207"/>
                  </a:lnTo>
                  <a:lnTo>
                    <a:pt x="0" y="906207"/>
                  </a:lnTo>
                  <a:close/>
                </a:path>
              </a:pathLst>
            </a:custGeom>
            <a:blipFill>
              <a:blip r:embed="rId4"/>
              <a:stretch>
                <a:fillRect l="-125333" t="0" r="-125333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5400000">
            <a:off x="-5216604" y="4365546"/>
            <a:ext cx="10287000" cy="1555909"/>
          </a:xfrm>
          <a:custGeom>
            <a:avLst/>
            <a:gdLst/>
            <a:ahLst/>
            <a:cxnLst/>
            <a:rect r="r" b="b" t="t" l="l"/>
            <a:pathLst>
              <a:path h="1555909" w="10287000">
                <a:moveTo>
                  <a:pt x="0" y="0"/>
                </a:moveTo>
                <a:lnTo>
                  <a:pt x="10287000" y="0"/>
                </a:lnTo>
                <a:lnTo>
                  <a:pt x="10287000" y="1555908"/>
                </a:lnTo>
                <a:lnTo>
                  <a:pt x="0" y="1555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1864659"/>
            <a:ext cx="3520935" cy="5849284"/>
            <a:chOff x="0" y="0"/>
            <a:chExt cx="545485" cy="906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485" cy="906207"/>
            </a:xfrm>
            <a:custGeom>
              <a:avLst/>
              <a:gdLst/>
              <a:ahLst/>
              <a:cxnLst/>
              <a:rect r="r" b="b" t="t" l="l"/>
              <a:pathLst>
                <a:path h="906207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906207"/>
                  </a:lnTo>
                  <a:lnTo>
                    <a:pt x="0" y="906207"/>
                  </a:lnTo>
                  <a:close/>
                </a:path>
              </a:pathLst>
            </a:custGeom>
            <a:blipFill>
              <a:blip r:embed="rId4"/>
              <a:stretch>
                <a:fillRect l="-26170" t="0" r="-22449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055868" y="-2875533"/>
            <a:ext cx="4464265" cy="5751066"/>
          </a:xfrm>
          <a:custGeom>
            <a:avLst/>
            <a:gdLst/>
            <a:ahLst/>
            <a:cxnLst/>
            <a:rect r="r" b="b" t="t" l="l"/>
            <a:pathLst>
              <a:path h="5751066" w="4464265">
                <a:moveTo>
                  <a:pt x="0" y="0"/>
                </a:moveTo>
                <a:lnTo>
                  <a:pt x="4464264" y="0"/>
                </a:lnTo>
                <a:lnTo>
                  <a:pt x="4464264" y="5751066"/>
                </a:lnTo>
                <a:lnTo>
                  <a:pt x="0" y="57510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60785" y="3009683"/>
            <a:ext cx="777702" cy="798667"/>
          </a:xfrm>
          <a:custGeom>
            <a:avLst/>
            <a:gdLst/>
            <a:ahLst/>
            <a:cxnLst/>
            <a:rect r="r" b="b" t="t" l="l"/>
            <a:pathLst>
              <a:path h="798667" w="777702">
                <a:moveTo>
                  <a:pt x="0" y="0"/>
                </a:moveTo>
                <a:lnTo>
                  <a:pt x="777701" y="0"/>
                </a:lnTo>
                <a:lnTo>
                  <a:pt x="777701" y="798667"/>
                </a:lnTo>
                <a:lnTo>
                  <a:pt x="0" y="7986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742950"/>
            <a:ext cx="50195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DE NEGÓCIO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PEDRO HENRIQUE SIQUEIRA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398222"/>
            <a:ext cx="861126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PROPOSTA DE VALOR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3428" y="6250080"/>
            <a:ext cx="7352406" cy="265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30"/>
              </a:lnSpc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Agilidade na entrada e saída por leitura de placa/QR Code, segurança automatizada e facilidade no pagamento digital. Além de facilitação e segurança dos motoristas e veículos.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2024" y="1428030"/>
            <a:ext cx="593381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PÚBLICO-ALVO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3428" y="2370552"/>
            <a:ext cx="7352406" cy="265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30"/>
              </a:lnSpc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Motoristas urbanos, trabalhadores que precisam de estacionamento diário/mensal e donos de veículos que buscam segurança.</a:t>
            </a:r>
          </a:p>
          <a:p>
            <a:pPr algn="r">
              <a:lnSpc>
                <a:spcPts val="423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985390" y="-3318751"/>
            <a:ext cx="2605219" cy="6637501"/>
          </a:xfrm>
          <a:custGeom>
            <a:avLst/>
            <a:gdLst/>
            <a:ahLst/>
            <a:cxnLst/>
            <a:rect r="r" b="b" t="t" l="l"/>
            <a:pathLst>
              <a:path h="6637501" w="2605219">
                <a:moveTo>
                  <a:pt x="0" y="0"/>
                </a:moveTo>
                <a:lnTo>
                  <a:pt x="2605220" y="0"/>
                </a:lnTo>
                <a:lnTo>
                  <a:pt x="2605220" y="6637502"/>
                </a:lnTo>
                <a:lnTo>
                  <a:pt x="0" y="663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2075575" y="5233627"/>
            <a:ext cx="2704548" cy="9616170"/>
          </a:xfrm>
          <a:custGeom>
            <a:avLst/>
            <a:gdLst/>
            <a:ahLst/>
            <a:cxnLst/>
            <a:rect r="r" b="b" t="t" l="l"/>
            <a:pathLst>
              <a:path h="9616170" w="2704548">
                <a:moveTo>
                  <a:pt x="0" y="0"/>
                </a:moveTo>
                <a:lnTo>
                  <a:pt x="2704547" y="0"/>
                </a:lnTo>
                <a:lnTo>
                  <a:pt x="2704547" y="9616170"/>
                </a:lnTo>
                <a:lnTo>
                  <a:pt x="0" y="9616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2067739" y="-2057400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4114800"/>
                </a:moveTo>
                <a:lnTo>
                  <a:pt x="4135478" y="4114800"/>
                </a:lnTo>
                <a:lnTo>
                  <a:pt x="41354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82516" y="3487131"/>
            <a:ext cx="553567" cy="523121"/>
          </a:xfrm>
          <a:custGeom>
            <a:avLst/>
            <a:gdLst/>
            <a:ahLst/>
            <a:cxnLst/>
            <a:rect r="r" b="b" t="t" l="l"/>
            <a:pathLst>
              <a:path h="523121" w="553567">
                <a:moveTo>
                  <a:pt x="0" y="0"/>
                </a:moveTo>
                <a:lnTo>
                  <a:pt x="553568" y="0"/>
                </a:lnTo>
                <a:lnTo>
                  <a:pt x="553568" y="523121"/>
                </a:lnTo>
                <a:lnTo>
                  <a:pt x="0" y="5231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36336" y="5878557"/>
            <a:ext cx="1356247" cy="1435182"/>
          </a:xfrm>
          <a:custGeom>
            <a:avLst/>
            <a:gdLst/>
            <a:ahLst/>
            <a:cxnLst/>
            <a:rect r="r" b="b" t="t" l="l"/>
            <a:pathLst>
              <a:path h="1435182" w="1356247">
                <a:moveTo>
                  <a:pt x="0" y="0"/>
                </a:moveTo>
                <a:lnTo>
                  <a:pt x="1356247" y="0"/>
                </a:lnTo>
                <a:lnTo>
                  <a:pt x="1356247" y="1435182"/>
                </a:lnTo>
                <a:lnTo>
                  <a:pt x="0" y="1435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35220" y="2156618"/>
            <a:ext cx="10358478" cy="215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SINERGIA PERFEITA: KANBAN + XP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5722" y="5154428"/>
            <a:ext cx="4716477" cy="10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7"/>
              </a:lnSpc>
            </a:pPr>
            <a:r>
              <a:rPr lang="en-US" b="true" sz="3362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KANBAN</a:t>
            </a:r>
          </a:p>
          <a:p>
            <a:pPr algn="ctr">
              <a:lnSpc>
                <a:spcPts val="3726"/>
              </a:lnSpc>
            </a:pPr>
            <a:r>
              <a:rPr lang="en-US" sz="266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GESTÃO VISUAL &amp; FLUXO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4253" y="6519948"/>
            <a:ext cx="6722323" cy="135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Transparência de etapas</a:t>
            </a:r>
          </a:p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Limite de WIP rígido</a:t>
            </a:r>
          </a:p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de gargalos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2950"/>
            <a:ext cx="501951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ABORDAGEM METODOLÓGICA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68446" y="5185415"/>
            <a:ext cx="4716477" cy="10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7"/>
              </a:lnSpc>
            </a:pPr>
            <a:r>
              <a:rPr lang="en-US" b="true" sz="3362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XP</a:t>
            </a:r>
          </a:p>
          <a:p>
            <a:pPr algn="ctr">
              <a:lnSpc>
                <a:spcPts val="3726"/>
              </a:lnSpc>
            </a:pPr>
            <a:r>
              <a:rPr lang="en-US" sz="266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QUALIDADE &amp; ADAPTAÇÃO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6977" y="6550936"/>
            <a:ext cx="6722323" cy="135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Feedback e alinhamento diário</a:t>
            </a:r>
          </a:p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tregas em ciclos curtos</a:t>
            </a:r>
          </a:p>
          <a:p>
            <a:pPr algn="ctr">
              <a:lnSpc>
                <a:spcPts val="3530"/>
              </a:lnSpc>
            </a:pP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5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implicidade no escopo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FELIPE DOMINICHELI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63344" y="3580156"/>
            <a:ext cx="3126688" cy="3126688"/>
          </a:xfrm>
          <a:custGeom>
            <a:avLst/>
            <a:gdLst/>
            <a:ahLst/>
            <a:cxnLst/>
            <a:rect r="r" b="b" t="t" l="l"/>
            <a:pathLst>
              <a:path h="3126688" w="3126688">
                <a:moveTo>
                  <a:pt x="0" y="0"/>
                </a:moveTo>
                <a:lnTo>
                  <a:pt x="3126688" y="0"/>
                </a:lnTo>
                <a:lnTo>
                  <a:pt x="3126688" y="3126688"/>
                </a:lnTo>
                <a:lnTo>
                  <a:pt x="0" y="312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33195" y="5558284"/>
            <a:ext cx="5280203" cy="5521781"/>
          </a:xfrm>
          <a:custGeom>
            <a:avLst/>
            <a:gdLst/>
            <a:ahLst/>
            <a:cxnLst/>
            <a:rect r="r" b="b" t="t" l="l"/>
            <a:pathLst>
              <a:path h="5521781" w="5280203">
                <a:moveTo>
                  <a:pt x="0" y="0"/>
                </a:moveTo>
                <a:lnTo>
                  <a:pt x="5280203" y="0"/>
                </a:lnTo>
                <a:lnTo>
                  <a:pt x="5280203" y="5521781"/>
                </a:lnTo>
                <a:lnTo>
                  <a:pt x="0" y="5521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9966692" y="-2724925"/>
            <a:ext cx="3408805" cy="11176411"/>
          </a:xfrm>
          <a:custGeom>
            <a:avLst/>
            <a:gdLst/>
            <a:ahLst/>
            <a:cxnLst/>
            <a:rect r="r" b="b" t="t" l="l"/>
            <a:pathLst>
              <a:path h="11176411" w="3408805">
                <a:moveTo>
                  <a:pt x="0" y="0"/>
                </a:moveTo>
                <a:lnTo>
                  <a:pt x="3408805" y="0"/>
                </a:lnTo>
                <a:lnTo>
                  <a:pt x="3408805" y="11176412"/>
                </a:lnTo>
                <a:lnTo>
                  <a:pt x="0" y="11176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472612" y="5558284"/>
            <a:ext cx="5280203" cy="5521781"/>
          </a:xfrm>
          <a:custGeom>
            <a:avLst/>
            <a:gdLst/>
            <a:ahLst/>
            <a:cxnLst/>
            <a:rect r="r" b="b" t="t" l="l"/>
            <a:pathLst>
              <a:path h="5521781" w="5280203">
                <a:moveTo>
                  <a:pt x="0" y="0"/>
                </a:moveTo>
                <a:lnTo>
                  <a:pt x="5280203" y="0"/>
                </a:lnTo>
                <a:lnTo>
                  <a:pt x="5280203" y="5521781"/>
                </a:lnTo>
                <a:lnTo>
                  <a:pt x="0" y="5521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702722" y="7116445"/>
            <a:ext cx="3170555" cy="3170555"/>
          </a:xfrm>
          <a:custGeom>
            <a:avLst/>
            <a:gdLst/>
            <a:ahLst/>
            <a:cxnLst/>
            <a:rect r="r" b="b" t="t" l="l"/>
            <a:pathLst>
              <a:path h="3170555" w="3170555">
                <a:moveTo>
                  <a:pt x="0" y="0"/>
                </a:moveTo>
                <a:lnTo>
                  <a:pt x="3170556" y="0"/>
                </a:lnTo>
                <a:lnTo>
                  <a:pt x="3170556" y="3170555"/>
                </a:lnTo>
                <a:lnTo>
                  <a:pt x="0" y="3170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979097" y="5558284"/>
            <a:ext cx="5280203" cy="5521781"/>
          </a:xfrm>
          <a:custGeom>
            <a:avLst/>
            <a:gdLst/>
            <a:ahLst/>
            <a:cxnLst/>
            <a:rect r="r" b="b" t="t" l="l"/>
            <a:pathLst>
              <a:path h="5521781" w="5280203">
                <a:moveTo>
                  <a:pt x="0" y="0"/>
                </a:moveTo>
                <a:lnTo>
                  <a:pt x="5280203" y="0"/>
                </a:lnTo>
                <a:lnTo>
                  <a:pt x="5280203" y="5521781"/>
                </a:lnTo>
                <a:lnTo>
                  <a:pt x="0" y="5521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8" id="8"/>
          <p:cNvGrpSpPr/>
          <p:nvPr/>
        </p:nvGrpSpPr>
        <p:grpSpPr>
          <a:xfrm rot="0">
            <a:off x="13738365" y="-642449"/>
            <a:ext cx="3520935" cy="5330107"/>
            <a:chOff x="0" y="0"/>
            <a:chExt cx="545485" cy="8257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485" cy="825773"/>
            </a:xfrm>
            <a:custGeom>
              <a:avLst/>
              <a:gdLst/>
              <a:ahLst/>
              <a:cxnLst/>
              <a:rect r="r" b="b" t="t" l="l"/>
              <a:pathLst>
                <a:path h="825773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825773"/>
                  </a:lnTo>
                  <a:lnTo>
                    <a:pt x="0" y="825773"/>
                  </a:lnTo>
                  <a:close/>
                </a:path>
              </a:pathLst>
            </a:custGeom>
            <a:blipFill>
              <a:blip r:embed="rId10"/>
              <a:stretch>
                <a:fillRect l="-127216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42684" y="-642449"/>
            <a:ext cx="3520935" cy="5330107"/>
            <a:chOff x="0" y="0"/>
            <a:chExt cx="545485" cy="8257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5485" cy="825773"/>
            </a:xfrm>
            <a:custGeom>
              <a:avLst/>
              <a:gdLst/>
              <a:ahLst/>
              <a:cxnLst/>
              <a:rect r="r" b="b" t="t" l="l"/>
              <a:pathLst>
                <a:path h="825773" w="545485">
                  <a:moveTo>
                    <a:pt x="0" y="0"/>
                  </a:moveTo>
                  <a:lnTo>
                    <a:pt x="545485" y="0"/>
                  </a:lnTo>
                  <a:lnTo>
                    <a:pt x="545485" y="825773"/>
                  </a:lnTo>
                  <a:lnTo>
                    <a:pt x="0" y="825773"/>
                  </a:lnTo>
                  <a:close/>
                </a:path>
              </a:pathLst>
            </a:custGeom>
            <a:blipFill>
              <a:blip r:embed="rId10"/>
              <a:stretch>
                <a:fillRect l="-22118" t="0" r="-105098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3312760" y="1729469"/>
            <a:ext cx="851209" cy="586270"/>
          </a:xfrm>
          <a:custGeom>
            <a:avLst/>
            <a:gdLst/>
            <a:ahLst/>
            <a:cxnLst/>
            <a:rect r="r" b="b" t="t" l="l"/>
            <a:pathLst>
              <a:path h="586270" w="851209">
                <a:moveTo>
                  <a:pt x="0" y="0"/>
                </a:moveTo>
                <a:lnTo>
                  <a:pt x="851209" y="0"/>
                </a:lnTo>
                <a:lnTo>
                  <a:pt x="851209" y="586271"/>
                </a:lnTo>
                <a:lnTo>
                  <a:pt x="0" y="586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90513" y="2098804"/>
            <a:ext cx="11026772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DIVISÃO POR ÉPICOS FUNCIONAIS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42950"/>
            <a:ext cx="58108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ESTRUTURAÇÃO DO PROJETO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4231" y="6094729"/>
            <a:ext cx="5809142" cy="92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Épico 1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Acesso e Vagas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0930" y="7502525"/>
            <a:ext cx="435574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automatizado de entrada/saída via leitura de placa e monitoramento de lotação.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8142" y="6094729"/>
            <a:ext cx="5809142" cy="92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Épico 2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Pagamentos e Tarifas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4587" y="7502525"/>
            <a:ext cx="473625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Cálculo exato de permanência, autoatendimento, Pix/Cartão e emissão de notas.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14627" y="6094729"/>
            <a:ext cx="5809142" cy="92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Épico 3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Clientes Mensalistas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10212" y="7502525"/>
            <a:ext cx="481797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cadastros, renovação de planos, relatórios e acesso expresso.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22781" y="737873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FELIPE DOMINICHELI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0846" y="2974398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90846" y="4975593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-5400000">
            <a:off x="13877084" y="6202226"/>
            <a:ext cx="2175510" cy="8287657"/>
          </a:xfrm>
          <a:custGeom>
            <a:avLst/>
            <a:gdLst/>
            <a:ahLst/>
            <a:cxnLst/>
            <a:rect r="r" b="b" t="t" l="l"/>
            <a:pathLst>
              <a:path h="8287657" w="2175510">
                <a:moveTo>
                  <a:pt x="0" y="8287658"/>
                </a:moveTo>
                <a:lnTo>
                  <a:pt x="2175510" y="8287658"/>
                </a:lnTo>
                <a:lnTo>
                  <a:pt x="2175510" y="0"/>
                </a:lnTo>
                <a:lnTo>
                  <a:pt x="0" y="0"/>
                </a:lnTo>
                <a:lnTo>
                  <a:pt x="0" y="82876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290846" y="6976788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480276" y="3176621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80276" y="5177816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80276" y="7179011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0712" y="3973296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0"/>
                </a:moveTo>
                <a:lnTo>
                  <a:pt x="4166886" y="0"/>
                </a:lnTo>
                <a:lnTo>
                  <a:pt x="41668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-4263925" y="4409823"/>
            <a:ext cx="11345095" cy="6353253"/>
          </a:xfrm>
          <a:custGeom>
            <a:avLst/>
            <a:gdLst/>
            <a:ahLst/>
            <a:cxnLst/>
            <a:rect r="r" b="b" t="t" l="l"/>
            <a:pathLst>
              <a:path h="6353253" w="11345095">
                <a:moveTo>
                  <a:pt x="11345096" y="0"/>
                </a:moveTo>
                <a:lnTo>
                  <a:pt x="0" y="0"/>
                </a:lnTo>
                <a:lnTo>
                  <a:pt x="0" y="6353253"/>
                </a:lnTo>
                <a:lnTo>
                  <a:pt x="11345096" y="6353253"/>
                </a:lnTo>
                <a:lnTo>
                  <a:pt x="11345096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54528" y="-2057400"/>
            <a:ext cx="5266944" cy="4114800"/>
          </a:xfrm>
          <a:custGeom>
            <a:avLst/>
            <a:gdLst/>
            <a:ahLst/>
            <a:cxnLst/>
            <a:rect r="r" b="b" t="t" l="l"/>
            <a:pathLst>
              <a:path h="4114800" w="5266944">
                <a:moveTo>
                  <a:pt x="0" y="0"/>
                </a:moveTo>
                <a:lnTo>
                  <a:pt x="5266944" y="0"/>
                </a:lnTo>
                <a:lnTo>
                  <a:pt x="5266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5400000">
            <a:off x="-995632" y="2077429"/>
            <a:ext cx="1991265" cy="1077772"/>
          </a:xfrm>
          <a:custGeom>
            <a:avLst/>
            <a:gdLst/>
            <a:ahLst/>
            <a:cxnLst/>
            <a:rect r="r" b="b" t="t" l="l"/>
            <a:pathLst>
              <a:path h="1077772" w="1991265">
                <a:moveTo>
                  <a:pt x="0" y="0"/>
                </a:moveTo>
                <a:lnTo>
                  <a:pt x="1991264" y="0"/>
                </a:lnTo>
                <a:lnTo>
                  <a:pt x="1991264" y="1077772"/>
                </a:lnTo>
                <a:lnTo>
                  <a:pt x="0" y="1077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1552690"/>
            <a:ext cx="677637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GESTÃO DE ACESSO E VAGAS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42950"/>
            <a:ext cx="63275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ÉPICO 1 • HISTÓRIAS PRINCIPAIS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3421" y="2907723"/>
            <a:ext cx="683729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Entrada por Leitura de Placa (OCR)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163421" y="3384507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Reconhecimento automático da placa para liberação instantânea da catraca.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3421" y="4994960"/>
            <a:ext cx="683729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Painel de Vagas em Tempo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63421" y="5471744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Atualização dinâmica do total de vagas antes de o veículo acessar o pátio.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3421" y="7082198"/>
            <a:ext cx="683729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Contingência Manual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3421" y="7558982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Emissão de ticket impresso provisório em caso de placas ilegíveis ou sujas.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31933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AMANDA GODINHO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2843681" y="6084794"/>
            <a:ext cx="2175510" cy="8287657"/>
          </a:xfrm>
          <a:custGeom>
            <a:avLst/>
            <a:gdLst/>
            <a:ahLst/>
            <a:cxnLst/>
            <a:rect r="r" b="b" t="t" l="l"/>
            <a:pathLst>
              <a:path h="8287657" w="2175510">
                <a:moveTo>
                  <a:pt x="0" y="8287657"/>
                </a:moveTo>
                <a:lnTo>
                  <a:pt x="2175510" y="8287657"/>
                </a:lnTo>
                <a:lnTo>
                  <a:pt x="2175510" y="0"/>
                </a:lnTo>
                <a:lnTo>
                  <a:pt x="0" y="0"/>
                </a:lnTo>
                <a:lnTo>
                  <a:pt x="0" y="828765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860239" y="3379499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0"/>
                </a:moveTo>
                <a:lnTo>
                  <a:pt x="4166886" y="0"/>
                </a:lnTo>
                <a:lnTo>
                  <a:pt x="41668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54577" y="3875370"/>
            <a:ext cx="11345095" cy="6353253"/>
          </a:xfrm>
          <a:custGeom>
            <a:avLst/>
            <a:gdLst/>
            <a:ahLst/>
            <a:cxnLst/>
            <a:rect r="r" b="b" t="t" l="l"/>
            <a:pathLst>
              <a:path h="6353253" w="11345095">
                <a:moveTo>
                  <a:pt x="0" y="0"/>
                </a:moveTo>
                <a:lnTo>
                  <a:pt x="11345096" y="0"/>
                </a:lnTo>
                <a:lnTo>
                  <a:pt x="11345096" y="6353253"/>
                </a:lnTo>
                <a:lnTo>
                  <a:pt x="0" y="6353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33472" y="-1028700"/>
            <a:ext cx="5266944" cy="4114800"/>
          </a:xfrm>
          <a:custGeom>
            <a:avLst/>
            <a:gdLst/>
            <a:ahLst/>
            <a:cxnLst/>
            <a:rect r="r" b="b" t="t" l="l"/>
            <a:pathLst>
              <a:path h="4114800" w="5266944">
                <a:moveTo>
                  <a:pt x="0" y="0"/>
                </a:moveTo>
                <a:lnTo>
                  <a:pt x="5266944" y="0"/>
                </a:lnTo>
                <a:lnTo>
                  <a:pt x="5266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543251" y="809625"/>
            <a:ext cx="6776371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GESTÃO DE PAGAMENTOS E TARIFAS</a:t>
            </a:r>
          </a:p>
          <a:p>
            <a:pPr algn="r">
              <a:lnSpc>
                <a:spcPts val="6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2950"/>
            <a:ext cx="63275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ÉPICO 2 • HISTÓRIAS PRINCIPAIS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7079633" y="1485446"/>
            <a:ext cx="1991265" cy="1077772"/>
          </a:xfrm>
          <a:custGeom>
            <a:avLst/>
            <a:gdLst/>
            <a:ahLst/>
            <a:cxnLst/>
            <a:rect r="r" b="b" t="t" l="l"/>
            <a:pathLst>
              <a:path h="1077772" w="1991265">
                <a:moveTo>
                  <a:pt x="0" y="0"/>
                </a:moveTo>
                <a:lnTo>
                  <a:pt x="1991264" y="0"/>
                </a:lnTo>
                <a:lnTo>
                  <a:pt x="1991264" y="1077772"/>
                </a:lnTo>
                <a:lnTo>
                  <a:pt x="0" y="1077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14303" y="2753447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30" y="0"/>
                </a:lnTo>
                <a:lnTo>
                  <a:pt x="1338930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14303" y="4754642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30" y="0"/>
                </a:lnTo>
                <a:lnTo>
                  <a:pt x="1338930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14303" y="6755837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30" y="0"/>
                </a:lnTo>
                <a:lnTo>
                  <a:pt x="1338930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803734" y="2955669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9"/>
                </a:lnTo>
                <a:lnTo>
                  <a:pt x="0" y="9600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03734" y="4956864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9"/>
                </a:lnTo>
                <a:lnTo>
                  <a:pt x="0" y="9600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03734" y="6958060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86879" y="2686772"/>
            <a:ext cx="683729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Cálculo Automático de Permanência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86879" y="3163556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Aplicação transparente de tarifário exato conforme o tempo estipulado.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86879" y="4774009"/>
            <a:ext cx="683729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Autoatendimento (Pix e Cartão)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86879" y="5250793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 ágil via totem para eliminar filas no caixa presencial.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86879" y="6861247"/>
            <a:ext cx="683729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Integração com Convênios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86879" y="7338031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Validação de descontos de lojas parceiras diretamente no sistema.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AMANDA GODINHO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0846" y="2974398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90846" y="4975593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-5400000">
            <a:off x="13877084" y="6202226"/>
            <a:ext cx="2175510" cy="8287657"/>
          </a:xfrm>
          <a:custGeom>
            <a:avLst/>
            <a:gdLst/>
            <a:ahLst/>
            <a:cxnLst/>
            <a:rect r="r" b="b" t="t" l="l"/>
            <a:pathLst>
              <a:path h="8287657" w="2175510">
                <a:moveTo>
                  <a:pt x="0" y="8287658"/>
                </a:moveTo>
                <a:lnTo>
                  <a:pt x="2175510" y="8287658"/>
                </a:lnTo>
                <a:lnTo>
                  <a:pt x="2175510" y="0"/>
                </a:lnTo>
                <a:lnTo>
                  <a:pt x="0" y="0"/>
                </a:lnTo>
                <a:lnTo>
                  <a:pt x="0" y="82876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290846" y="6976788"/>
            <a:ext cx="1338929" cy="1364514"/>
          </a:xfrm>
          <a:custGeom>
            <a:avLst/>
            <a:gdLst/>
            <a:ahLst/>
            <a:cxnLst/>
            <a:rect r="r" b="b" t="t" l="l"/>
            <a:pathLst>
              <a:path h="1364514" w="1338929">
                <a:moveTo>
                  <a:pt x="0" y="0"/>
                </a:moveTo>
                <a:lnTo>
                  <a:pt x="1338929" y="0"/>
                </a:lnTo>
                <a:lnTo>
                  <a:pt x="1338929" y="1364514"/>
                </a:lnTo>
                <a:lnTo>
                  <a:pt x="0" y="136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480276" y="3176621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80276" y="5177816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80276" y="7179011"/>
            <a:ext cx="960068" cy="960068"/>
          </a:xfrm>
          <a:custGeom>
            <a:avLst/>
            <a:gdLst/>
            <a:ahLst/>
            <a:cxnLst/>
            <a:rect r="r" b="b" t="t" l="l"/>
            <a:pathLst>
              <a:path h="960068" w="960068">
                <a:moveTo>
                  <a:pt x="0" y="0"/>
                </a:moveTo>
                <a:lnTo>
                  <a:pt x="960068" y="0"/>
                </a:lnTo>
                <a:lnTo>
                  <a:pt x="960068" y="960068"/>
                </a:lnTo>
                <a:lnTo>
                  <a:pt x="0" y="960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0712" y="3973296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0"/>
                </a:moveTo>
                <a:lnTo>
                  <a:pt x="4166886" y="0"/>
                </a:lnTo>
                <a:lnTo>
                  <a:pt x="41668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-4263925" y="4409823"/>
            <a:ext cx="11345095" cy="6353253"/>
          </a:xfrm>
          <a:custGeom>
            <a:avLst/>
            <a:gdLst/>
            <a:ahLst/>
            <a:cxnLst/>
            <a:rect r="r" b="b" t="t" l="l"/>
            <a:pathLst>
              <a:path h="6353253" w="11345095">
                <a:moveTo>
                  <a:pt x="11345096" y="0"/>
                </a:moveTo>
                <a:lnTo>
                  <a:pt x="0" y="0"/>
                </a:lnTo>
                <a:lnTo>
                  <a:pt x="0" y="6353253"/>
                </a:lnTo>
                <a:lnTo>
                  <a:pt x="11345096" y="6353253"/>
                </a:lnTo>
                <a:lnTo>
                  <a:pt x="11345096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54528" y="-2057400"/>
            <a:ext cx="5266944" cy="4114800"/>
          </a:xfrm>
          <a:custGeom>
            <a:avLst/>
            <a:gdLst/>
            <a:ahLst/>
            <a:cxnLst/>
            <a:rect r="r" b="b" t="t" l="l"/>
            <a:pathLst>
              <a:path h="4114800" w="5266944">
                <a:moveTo>
                  <a:pt x="0" y="0"/>
                </a:moveTo>
                <a:lnTo>
                  <a:pt x="5266944" y="0"/>
                </a:lnTo>
                <a:lnTo>
                  <a:pt x="5266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5400000">
            <a:off x="-995632" y="2077429"/>
            <a:ext cx="1991265" cy="1077772"/>
          </a:xfrm>
          <a:custGeom>
            <a:avLst/>
            <a:gdLst/>
            <a:ahLst/>
            <a:cxnLst/>
            <a:rect r="r" b="b" t="t" l="l"/>
            <a:pathLst>
              <a:path h="1077772" w="1991265">
                <a:moveTo>
                  <a:pt x="0" y="0"/>
                </a:moveTo>
                <a:lnTo>
                  <a:pt x="1991264" y="0"/>
                </a:lnTo>
                <a:lnTo>
                  <a:pt x="1991264" y="1077772"/>
                </a:lnTo>
                <a:lnTo>
                  <a:pt x="0" y="10777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1552690"/>
            <a:ext cx="6776371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GESTÃO DE CLIENTES MENSALISTAS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42950"/>
            <a:ext cx="63275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ÉPICO 3 • HISTÓRIAS PRINCIPAIS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3421" y="2907723"/>
            <a:ext cx="683729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Acesso Expresso Automático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163421" y="3384507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Reconhecimento da placa cadastrada com liberação imediata sem atrito.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3421" y="4994960"/>
            <a:ext cx="683729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Renovação e Auto-Atualização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163421" y="5471744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Alertas de vencimento e opção de troca de veículo via aplicativo.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3421" y="7082198"/>
            <a:ext cx="683729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Relatório de Inadimplência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163421" y="7558982"/>
            <a:ext cx="672484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financeiro administrativo para bloqueio pontual de pendentes.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31933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AMANDA GODINHO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73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061290" cy="10287000"/>
          </a:xfrm>
          <a:custGeom>
            <a:avLst/>
            <a:gdLst/>
            <a:ahLst/>
            <a:cxnLst/>
            <a:rect r="r" b="b" t="t" l="l"/>
            <a:pathLst>
              <a:path h="10287000" w="11061290">
                <a:moveTo>
                  <a:pt x="0" y="0"/>
                </a:moveTo>
                <a:lnTo>
                  <a:pt x="11061290" y="0"/>
                </a:lnTo>
                <a:lnTo>
                  <a:pt x="110612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11378" y="5589741"/>
            <a:ext cx="8422756" cy="905446"/>
          </a:xfrm>
          <a:custGeom>
            <a:avLst/>
            <a:gdLst/>
            <a:ahLst/>
            <a:cxnLst/>
            <a:rect r="r" b="b" t="t" l="l"/>
            <a:pathLst>
              <a:path h="905446" w="8422756">
                <a:moveTo>
                  <a:pt x="0" y="0"/>
                </a:moveTo>
                <a:lnTo>
                  <a:pt x="8422756" y="0"/>
                </a:lnTo>
                <a:lnTo>
                  <a:pt x="8422756" y="905446"/>
                </a:lnTo>
                <a:lnTo>
                  <a:pt x="0" y="905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5400000">
            <a:off x="16230600" y="-4331368"/>
            <a:ext cx="2057400" cy="8662737"/>
          </a:xfrm>
          <a:custGeom>
            <a:avLst/>
            <a:gdLst/>
            <a:ahLst/>
            <a:cxnLst/>
            <a:rect r="r" b="b" t="t" l="l"/>
            <a:pathLst>
              <a:path h="8662737" w="2057400">
                <a:moveTo>
                  <a:pt x="2057400" y="0"/>
                </a:moveTo>
                <a:lnTo>
                  <a:pt x="0" y="0"/>
                </a:lnTo>
                <a:lnTo>
                  <a:pt x="0" y="8662736"/>
                </a:lnTo>
                <a:lnTo>
                  <a:pt x="2057400" y="8662736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07235" y="8211437"/>
            <a:ext cx="4161530" cy="4151126"/>
          </a:xfrm>
          <a:custGeom>
            <a:avLst/>
            <a:gdLst/>
            <a:ahLst/>
            <a:cxnLst/>
            <a:rect r="r" b="b" t="t" l="l"/>
            <a:pathLst>
              <a:path h="4151126" w="4161530">
                <a:moveTo>
                  <a:pt x="0" y="0"/>
                </a:moveTo>
                <a:lnTo>
                  <a:pt x="4161530" y="0"/>
                </a:lnTo>
                <a:lnTo>
                  <a:pt x="4161530" y="4151126"/>
                </a:lnTo>
                <a:lnTo>
                  <a:pt x="0" y="4151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10117085" y="9353555"/>
            <a:ext cx="1171474" cy="1866891"/>
          </a:xfrm>
          <a:custGeom>
            <a:avLst/>
            <a:gdLst/>
            <a:ahLst/>
            <a:cxnLst/>
            <a:rect r="r" b="b" t="t" l="l"/>
            <a:pathLst>
              <a:path h="1866891" w="1171474">
                <a:moveTo>
                  <a:pt x="0" y="0"/>
                </a:moveTo>
                <a:lnTo>
                  <a:pt x="1171474" y="0"/>
                </a:lnTo>
                <a:lnTo>
                  <a:pt x="1171474" y="1866890"/>
                </a:lnTo>
                <a:lnTo>
                  <a:pt x="0" y="18668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899237"/>
            <a:ext cx="7512963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b="true" sz="9600" i="true" u="sng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  <a:hlinkClick r:id="rId13" tooltip="https://trello.com/b/RIIxTQ00/projeto-agil-smartpark"/>
              </a:rPr>
              <a:t>TRELLO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42950"/>
            <a:ext cx="642148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EXECUÇÃO PRÁTICA NO TRELLO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066848"/>
            <a:ext cx="420197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GABRIELE BRITO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54935" y="3529410"/>
            <a:ext cx="2048676" cy="6352485"/>
          </a:xfrm>
          <a:custGeom>
            <a:avLst/>
            <a:gdLst/>
            <a:ahLst/>
            <a:cxnLst/>
            <a:rect r="r" b="b" t="t" l="l"/>
            <a:pathLst>
              <a:path h="6352485" w="2048676">
                <a:moveTo>
                  <a:pt x="2048676" y="0"/>
                </a:moveTo>
                <a:lnTo>
                  <a:pt x="0" y="0"/>
                </a:lnTo>
                <a:lnTo>
                  <a:pt x="0" y="6352484"/>
                </a:lnTo>
                <a:lnTo>
                  <a:pt x="2048676" y="6352484"/>
                </a:lnTo>
                <a:lnTo>
                  <a:pt x="20486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9696450"/>
            <a:ext cx="18288000" cy="2926080"/>
          </a:xfrm>
          <a:custGeom>
            <a:avLst/>
            <a:gdLst/>
            <a:ahLst/>
            <a:cxnLst/>
            <a:rect r="r" b="b" t="t" l="l"/>
            <a:pathLst>
              <a:path h="2926080" w="18288000">
                <a:moveTo>
                  <a:pt x="0" y="0"/>
                </a:moveTo>
                <a:lnTo>
                  <a:pt x="18288000" y="0"/>
                </a:lnTo>
                <a:lnTo>
                  <a:pt x="1828800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491167" y="1537103"/>
            <a:ext cx="5536267" cy="1148775"/>
          </a:xfrm>
          <a:custGeom>
            <a:avLst/>
            <a:gdLst/>
            <a:ahLst/>
            <a:cxnLst/>
            <a:rect r="r" b="b" t="t" l="l"/>
            <a:pathLst>
              <a:path h="1148775" w="5536267">
                <a:moveTo>
                  <a:pt x="0" y="0"/>
                </a:moveTo>
                <a:lnTo>
                  <a:pt x="5536266" y="0"/>
                </a:lnTo>
                <a:lnTo>
                  <a:pt x="5536266" y="1148775"/>
                </a:lnTo>
                <a:lnTo>
                  <a:pt x="0" y="114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26756" y="2685878"/>
            <a:ext cx="829806" cy="600572"/>
          </a:xfrm>
          <a:custGeom>
            <a:avLst/>
            <a:gdLst/>
            <a:ahLst/>
            <a:cxnLst/>
            <a:rect r="r" b="b" t="t" l="l"/>
            <a:pathLst>
              <a:path h="600572" w="829806">
                <a:moveTo>
                  <a:pt x="0" y="0"/>
                </a:moveTo>
                <a:lnTo>
                  <a:pt x="829806" y="0"/>
                </a:lnTo>
                <a:lnTo>
                  <a:pt x="829806" y="600573"/>
                </a:lnTo>
                <a:lnTo>
                  <a:pt x="0" y="600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5409935" y="6240918"/>
            <a:ext cx="3351331" cy="3280341"/>
            <a:chOff x="0" y="0"/>
            <a:chExt cx="851418" cy="8333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1418" cy="833383"/>
            </a:xfrm>
            <a:custGeom>
              <a:avLst/>
              <a:gdLst/>
              <a:ahLst/>
              <a:cxnLst/>
              <a:rect r="r" b="b" t="t" l="l"/>
              <a:pathLst>
                <a:path h="833383" w="851418">
                  <a:moveTo>
                    <a:pt x="0" y="0"/>
                  </a:moveTo>
                  <a:lnTo>
                    <a:pt x="851418" y="0"/>
                  </a:lnTo>
                  <a:lnTo>
                    <a:pt x="851418" y="833383"/>
                  </a:lnTo>
                  <a:lnTo>
                    <a:pt x="0" y="833383"/>
                  </a:lnTo>
                  <a:close/>
                </a:path>
              </a:pathLst>
            </a:custGeom>
            <a:blipFill>
              <a:blip r:embed="rId10"/>
              <a:stretch>
                <a:fillRect l="0" t="-4537" r="0" b="-41768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09935" y="9089247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9539809" y="6240918"/>
            <a:ext cx="3351331" cy="3280341"/>
            <a:chOff x="0" y="0"/>
            <a:chExt cx="851418" cy="8333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1418" cy="833383"/>
            </a:xfrm>
            <a:custGeom>
              <a:avLst/>
              <a:gdLst/>
              <a:ahLst/>
              <a:cxnLst/>
              <a:rect r="r" b="b" t="t" l="l"/>
              <a:pathLst>
                <a:path h="833383" w="851418">
                  <a:moveTo>
                    <a:pt x="0" y="0"/>
                  </a:moveTo>
                  <a:lnTo>
                    <a:pt x="851418" y="0"/>
                  </a:lnTo>
                  <a:lnTo>
                    <a:pt x="851418" y="833383"/>
                  </a:lnTo>
                  <a:lnTo>
                    <a:pt x="0" y="833383"/>
                  </a:lnTo>
                  <a:close/>
                </a:path>
              </a:pathLst>
            </a:custGeom>
            <a:blipFill>
              <a:blip r:embed="rId13"/>
              <a:stretch>
                <a:fillRect l="0" t="-35084" r="0" b="-4654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539809" y="9089247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3247404" y="2400973"/>
            <a:ext cx="3322594" cy="3280341"/>
            <a:chOff x="0" y="0"/>
            <a:chExt cx="844117" cy="8333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4117" cy="833383"/>
            </a:xfrm>
            <a:custGeom>
              <a:avLst/>
              <a:gdLst/>
              <a:ahLst/>
              <a:cxnLst/>
              <a:rect r="r" b="b" t="t" l="l"/>
              <a:pathLst>
                <a:path h="833383" w="844117">
                  <a:moveTo>
                    <a:pt x="0" y="0"/>
                  </a:moveTo>
                  <a:lnTo>
                    <a:pt x="844117" y="0"/>
                  </a:lnTo>
                  <a:lnTo>
                    <a:pt x="844117" y="833383"/>
                  </a:lnTo>
                  <a:lnTo>
                    <a:pt x="0" y="833383"/>
                  </a:lnTo>
                  <a:close/>
                </a:path>
              </a:pathLst>
            </a:custGeom>
            <a:blipFill>
              <a:blip r:embed="rId14"/>
              <a:stretch>
                <a:fillRect l="0" t="-26713" r="0" b="-92583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247404" y="5249302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7474872" y="2400973"/>
            <a:ext cx="3351331" cy="3280341"/>
            <a:chOff x="0" y="0"/>
            <a:chExt cx="851418" cy="833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1418" cy="833383"/>
            </a:xfrm>
            <a:custGeom>
              <a:avLst/>
              <a:gdLst/>
              <a:ahLst/>
              <a:cxnLst/>
              <a:rect r="r" b="b" t="t" l="l"/>
              <a:pathLst>
                <a:path h="833383" w="851418">
                  <a:moveTo>
                    <a:pt x="0" y="0"/>
                  </a:moveTo>
                  <a:lnTo>
                    <a:pt x="851418" y="0"/>
                  </a:lnTo>
                  <a:lnTo>
                    <a:pt x="851418" y="833383"/>
                  </a:lnTo>
                  <a:lnTo>
                    <a:pt x="0" y="833383"/>
                  </a:lnTo>
                  <a:close/>
                </a:path>
              </a:pathLst>
            </a:custGeom>
            <a:blipFill>
              <a:blip r:embed="rId15"/>
              <a:stretch>
                <a:fillRect l="0" t="-1082" r="0" b="-108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474872" y="5249302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8342070" y="5318008"/>
            <a:ext cx="1616936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Estelle Darcy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728050" y="2400973"/>
            <a:ext cx="3323278" cy="3280341"/>
            <a:chOff x="0" y="0"/>
            <a:chExt cx="844291" cy="8333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4291" cy="833383"/>
            </a:xfrm>
            <a:custGeom>
              <a:avLst/>
              <a:gdLst/>
              <a:ahLst/>
              <a:cxnLst/>
              <a:rect r="r" b="b" t="t" l="l"/>
              <a:pathLst>
                <a:path h="833383" w="844291">
                  <a:moveTo>
                    <a:pt x="0" y="0"/>
                  </a:moveTo>
                  <a:lnTo>
                    <a:pt x="844291" y="0"/>
                  </a:lnTo>
                  <a:lnTo>
                    <a:pt x="844291" y="833383"/>
                  </a:lnTo>
                  <a:lnTo>
                    <a:pt x="0" y="833383"/>
                  </a:lnTo>
                  <a:close/>
                </a:path>
              </a:pathLst>
            </a:custGeom>
            <a:blipFill>
              <a:blip r:embed="rId16"/>
              <a:stretch>
                <a:fillRect l="0" t="-3243" r="0" b="-31882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699997" y="5249302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7474872" y="5249302"/>
            <a:ext cx="3351331" cy="432012"/>
          </a:xfrm>
          <a:custGeom>
            <a:avLst/>
            <a:gdLst/>
            <a:ahLst/>
            <a:cxnLst/>
            <a:rect r="r" b="b" t="t" l="l"/>
            <a:pathLst>
              <a:path h="432012" w="3351331">
                <a:moveTo>
                  <a:pt x="0" y="0"/>
                </a:moveTo>
                <a:lnTo>
                  <a:pt x="3351331" y="0"/>
                </a:lnTo>
                <a:lnTo>
                  <a:pt x="3351331" y="432012"/>
                </a:lnTo>
                <a:lnTo>
                  <a:pt x="0" y="4320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52" t="-1972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5945990" y="869864"/>
            <a:ext cx="6396020" cy="114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MEMBROS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42950"/>
            <a:ext cx="280457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ALUNOS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77132" y="9157953"/>
            <a:ext cx="1616936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Gustavo Pereira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07007" y="9157953"/>
            <a:ext cx="1616936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Pedro Siqueira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90565" y="5318008"/>
            <a:ext cx="1836271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Amanda Godinho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67194" y="5318008"/>
            <a:ext cx="1616936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Gabriele Brito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11531" y="5318008"/>
            <a:ext cx="2064937" cy="25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4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Felipe Dominicheli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DAHYAkQUd6g</dc:identifier>
  <dcterms:modified xsi:type="dcterms:W3CDTF">2011-08-01T06:04:30Z</dcterms:modified>
  <cp:revision>1</cp:revision>
  <dc:title>Gestão ágil de projetos</dc:title>
</cp:coreProperties>
</file>